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E3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1E3D"/>
                </a:solidFill>
                <a:latin typeface="Arial"/>
              </a:rPr>
              <a:t>Per-Component RUL Error (lower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RUL MAE (cycles)</c:v>
                </c:pt>
              </c:strCache>
            </c:strRef>
          </c:tx>
          <c:spPr>
            <a:solidFill>
              <a:srgbClr val="2E8B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B7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6F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E6FD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Engine</c:v>
                  </c:pt>
                  <c:pt idx="1">
                    <c:v>Brakes</c:v>
                  </c:pt>
                  <c:pt idx="2">
                    <c:v>Landing Gear</c:v>
                  </c:pt>
                  <c:pt idx="3">
                    <c:v>Bogie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2.15</c:v>
                </c:pt>
                <c:pt idx="1">
                  <c:v>4.1</c:v>
                </c:pt>
                <c:pt idx="2">
                  <c:v>5.4</c:v>
                </c:pt>
                <c:pt idx="3">
                  <c:v>8.1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E3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1E3D"/>
                </a:solidFill>
                <a:latin typeface="Arial"/>
              </a:rPr>
              <a:t>160 Tracked Parts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Fleet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8B7C"/>
              </a:solidFill>
              <a:effectLst/>
            </c:spPr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Healthy</c:v>
                </c:pt>
                <c:pt idx="1">
                  <c:v>Warning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128</c:v>
                </c:pt>
                <c:pt idx="1">
                  <c:v>32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B27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-1097280"/>
            <a:ext cx="2011680" cy="2011680"/>
          </a:xfrm>
          <a:prstGeom prst="ellipse">
            <a:avLst/>
          </a:prstGeom>
          <a:ln w="12700">
            <a:solidFill>
              <a:srgbClr val="4A6FA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71355" y="-1623060"/>
            <a:ext cx="3063240" cy="3063240"/>
          </a:xfrm>
          <a:prstGeom prst="ellipse">
            <a:avLst/>
          </a:prstGeom>
          <a:ln w="12700">
            <a:solidFill>
              <a:srgbClr val="4A6FA5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45575" y="-2148840"/>
            <a:ext cx="4114800" cy="4114800"/>
          </a:xfrm>
          <a:prstGeom prst="ellipse">
            <a:avLst/>
          </a:prstGeom>
          <a:ln w="12700">
            <a:solidFill>
              <a:srgbClr val="4A6FA5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9795" y="-2674620"/>
            <a:ext cx="5166360" cy="5166360"/>
          </a:xfrm>
          <a:prstGeom prst="ellipse">
            <a:avLst/>
          </a:prstGeom>
          <a:ln w="12700">
            <a:solidFill>
              <a:srgbClr val="4A6FA5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DEMO  ·  AEROSPACE AI TRACK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FLEETGUARD AI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Per-Component Predictive Maintenance for Aerospace Fleets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3977640"/>
            <a:ext cx="0" cy="0"/>
          </a:xfrm>
          <a:prstGeom prst="line">
            <a:avLst/>
          </a:prstGeom>
          <a:noFill/>
          <a:ln w="12700">
            <a:solidFill>
              <a:srgbClr val="0B1E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434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22960" y="5074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tracked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4434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611880" y="5074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aircraft, 4 subsystems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4434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4.91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00800" y="5074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RUL error (MAE)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42855" y="4937760"/>
            <a:ext cx="1051560" cy="1051560"/>
          </a:xfrm>
          <a:prstGeom prst="ellipse">
            <a:avLst/>
          </a:prstGeom>
          <a:solidFill>
            <a:srgbClr val="142A52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9558" y="5074463"/>
            <a:ext cx="778154" cy="77815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22960" y="6080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ML core  +  generative explainability layer  —  novel fusion architecture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Unscheduled Maintenance Is Reactive, Wasteful, and Doesn't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429000"/>
          </a:xfrm>
          <a:prstGeom prst="roundRect">
            <a:avLst>
              <a:gd name="adj" fmla="val 2133"/>
            </a:avLst>
          </a:prstGeom>
          <a:solidFill>
            <a:srgbClr val="E9EFF7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777240" cy="77724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001" y="2249881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63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Unplanned groundings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undetected fault surfaces only after failure — grounding an aircraft with no warning and no scheduling window.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874520"/>
            <a:ext cx="3520440" cy="3429000"/>
          </a:xfrm>
          <a:prstGeom prst="roundRect">
            <a:avLst>
              <a:gd name="adj" fmla="val 2133"/>
            </a:avLst>
          </a:prstGeom>
          <a:solidFill>
            <a:srgbClr val="E9EFF7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148840"/>
            <a:ext cx="777240" cy="77724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761" y="2249881"/>
            <a:ext cx="575158" cy="5751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063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Wasted remaining life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17720" y="37033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maintenance intervals replace parts on a calendar, not on condition — discarding healthy remaining life on a schedule alone.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874520"/>
            <a:ext cx="3520440" cy="3429000"/>
          </a:xfrm>
          <a:prstGeom prst="roundRect">
            <a:avLst>
              <a:gd name="adj" fmla="val 2133"/>
            </a:avLst>
          </a:prstGeom>
          <a:solidFill>
            <a:srgbClr val="E9EFF7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2148840"/>
            <a:ext cx="777240" cy="777240"/>
          </a:xfrm>
          <a:prstGeom prst="ellipse">
            <a:avLst/>
          </a:prstGeom>
          <a:solidFill>
            <a:srgbClr val="2E8B7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521" y="2249881"/>
            <a:ext cx="575158" cy="5751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063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Inspection doesn't scale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12480" y="37033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per-aircraft inspection cadence can't keep pace as fleets grow past dozens of aircraft and hundreds of tracked parts.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623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FleetGuard AI shifts the fleet from calendar-based to condition-based maintenance — per part, not per aircraft.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Sense. Detect. Predict. Act. — Fully Automated, Per Component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E9EFF7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2286000"/>
            <a:ext cx="868680" cy="86868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0248" y="2398928"/>
            <a:ext cx="642823" cy="6428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337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79476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sensor channels x 31 rolling-window features per part, per cycle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172968" y="30632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C4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346704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15384" y="2286000"/>
            <a:ext cx="868680" cy="8686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312" y="2398928"/>
            <a:ext cx="642823" cy="64282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83864" y="3337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75304" y="379476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flags abnormal behavior — no failure labels required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971032" y="30632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C4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6144768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E9EFF7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13448" y="2286000"/>
            <a:ext cx="868680" cy="868680"/>
          </a:xfrm>
          <a:prstGeom prst="ellipse">
            <a:avLst/>
          </a:prstGeom>
          <a:solidFill>
            <a:srgbClr val="2E8B7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376" y="2398928"/>
            <a:ext cx="642823" cy="64282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81928" y="3337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373368" y="379476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estimates Remaining Useful Life, in operating cycles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769096" y="30632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C4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2400" dirty="0"/>
          </a:p>
        </p:txBody>
      </p:sp>
      <p:sp>
        <p:nvSpPr>
          <p:cNvPr id="22" name="Shape 17"/>
          <p:cNvSpPr/>
          <p:nvPr/>
        </p:nvSpPr>
        <p:spPr>
          <a:xfrm>
            <a:off x="8942832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811512" y="2286000"/>
            <a:ext cx="868680" cy="86868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4440" y="2398928"/>
            <a:ext cx="642823" cy="64282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79992" y="3337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171432" y="379476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auto-generated, retry-safe maintenance work orders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548640" y="5806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model pairs run in parallel — one per aircraft subsystem — not one global model.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AI Pipelines per Aircraft Subsystem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42A5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0195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Telemetry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sensor channels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42A5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13639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rolling features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34640" y="2286000"/>
            <a:ext cx="502920" cy="0"/>
          </a:xfrm>
          <a:prstGeom prst="line">
            <a:avLst/>
          </a:prstGeom>
          <a:noFill/>
          <a:ln w="25400">
            <a:solidFill>
              <a:srgbClr val="4A6F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3520440"/>
            <a:ext cx="502920" cy="0"/>
          </a:xfrm>
          <a:prstGeom prst="line">
            <a:avLst/>
          </a:prstGeom>
          <a:noFill/>
          <a:ln w="25400">
            <a:solidFill>
              <a:srgbClr val="4A6F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2286000"/>
            <a:ext cx="0" cy="1234440"/>
          </a:xfrm>
          <a:prstGeom prst="line">
            <a:avLst/>
          </a:prstGeom>
          <a:noFill/>
          <a:ln w="25400">
            <a:solidFill>
              <a:srgbClr val="4A6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3240" y="2898648"/>
            <a:ext cx="502920" cy="0"/>
          </a:xfrm>
          <a:prstGeom prst="line">
            <a:avLst/>
          </a:prstGeom>
          <a:noFill/>
          <a:ln w="25400">
            <a:solidFill>
              <a:srgbClr val="4A6F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141732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0F2647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554480"/>
            <a:ext cx="685800" cy="6858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2514" y="1643634"/>
            <a:ext cx="507492" cy="50749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846320" y="14904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846320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 + RandomForest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566160" y="1892808"/>
            <a:ext cx="27432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40480" y="2587752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0F2647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023360" y="2724912"/>
            <a:ext cx="685800" cy="68580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514" y="2814066"/>
            <a:ext cx="507492" cy="5074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846320" y="26609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Gear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4846320" y="30449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 + RandomForest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566160" y="3063240"/>
            <a:ext cx="27432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840480" y="3758184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0F2647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023360" y="3895344"/>
            <a:ext cx="685800" cy="685800"/>
          </a:xfrm>
          <a:prstGeom prst="ellipse">
            <a:avLst/>
          </a:prstGeom>
          <a:solidFill>
            <a:srgbClr val="2E8B7C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514" y="3984498"/>
            <a:ext cx="507492" cy="50749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846320" y="383133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Brakes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4846320" y="42153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 + RandomForest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566160" y="4233672"/>
            <a:ext cx="27432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840480" y="4928616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0F2647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023360" y="5065776"/>
            <a:ext cx="685800" cy="685800"/>
          </a:xfrm>
          <a:prstGeom prst="ellipse">
            <a:avLst/>
          </a:prstGeom>
          <a:solidFill>
            <a:srgbClr val="8E6FD1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2514" y="5154930"/>
            <a:ext cx="507492" cy="50749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846320" y="50017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Bogie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4846320" y="53858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 + RandomForest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3566160" y="5404104"/>
            <a:ext cx="27432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8001000" y="3520440"/>
            <a:ext cx="502920" cy="0"/>
          </a:xfrm>
          <a:prstGeom prst="line">
            <a:avLst/>
          </a:prstGeom>
          <a:noFill/>
          <a:ln w="25400">
            <a:solidFill>
              <a:srgbClr val="4A6FA5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8595360" y="182880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2E8B7C"/>
          </a:solidFill>
          <a:ln/>
        </p:spPr>
      </p:sp>
      <p:sp>
        <p:nvSpPr>
          <p:cNvPr id="38" name="Text 32"/>
          <p:cNvSpPr/>
          <p:nvPr/>
        </p:nvSpPr>
        <p:spPr>
          <a:xfrm>
            <a:off x="8732520" y="190195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Health Dashboard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8595360" y="306324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5A623"/>
          </a:solidFill>
          <a:ln/>
        </p:spPr>
      </p:sp>
      <p:sp>
        <p:nvSpPr>
          <p:cNvPr id="40" name="Text 34"/>
          <p:cNvSpPr/>
          <p:nvPr/>
        </p:nvSpPr>
        <p:spPr>
          <a:xfrm>
            <a:off x="8732520" y="313639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7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Work Orders (MRO)</a:t>
            </a:r>
            <a:endParaRPr lang="en-US" sz="1250" dirty="0"/>
          </a:p>
        </p:txBody>
      </p:sp>
      <p:sp>
        <p:nvSpPr>
          <p:cNvPr id="41" name="Shape 35"/>
          <p:cNvSpPr/>
          <p:nvPr/>
        </p:nvSpPr>
        <p:spPr>
          <a:xfrm>
            <a:off x="11612880" y="2286000"/>
            <a:ext cx="0" cy="1234440"/>
          </a:xfrm>
          <a:prstGeom prst="line">
            <a:avLst/>
          </a:prstGeom>
          <a:noFill/>
          <a:ln w="25400">
            <a:solidFill>
              <a:srgbClr val="4A6FA5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54864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training (train.py) is decoupled from fast, frequent serving (predict_service.py) — a production ML pattern.</a:t>
            </a:r>
            <a:endParaRPr lang="en-US" sz="1250" dirty="0"/>
          </a:p>
        </p:txBody>
      </p:sp>
      <p:sp>
        <p:nvSpPr>
          <p:cNvPr id="43" name="Text 3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81" y="603961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804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Component-Specific Dual-Ensemble Architecture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5212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Isolation Forest + one Random Forest pair trained independently per subsystem — not one global model forced across heterogeneous parts.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thresholds are tuned per component on a held-out validation split, so each subsystem gets its own sensitivity calibration.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vibration signatures, landing-gear shock loading, and brake wear behave differently — separate ensembles capture that instead of averaging it away.</a:t>
            </a:r>
            <a:endParaRPr lang="en-US" sz="14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172200" y="1600200"/>
          <a:ext cx="5486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5257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per-component error on high-signal parts (engine) vs. noisier mechanical wear (bogie) — an artifact only visible because models aren't pooled.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81" y="603961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804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Leakage-Safe, Unit-Level Validation Protocol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by physical part lifetime — never by row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FBEDE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APPROACH (leaky)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6974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from the same part's lifetime are split randomly across train/val/test.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14400" y="3429000"/>
            <a:ext cx="47548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6C9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342900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40 -&gt; train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14400" y="3995928"/>
            <a:ext cx="47548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6C9C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399592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41 -&gt; test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0" y="4562856"/>
            <a:ext cx="47548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6C9C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" y="456285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42 -&gt; train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" y="52578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cycles of the same degrading part leak into both sides -&gt; inflated accuracy that won't hold on new parts.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63640" y="210312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E9F5F2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53796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FLEETGUARD AI (leak-free)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537960" y="26974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cycle of a given unit_id stays entirely within one split.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537960" y="3429000"/>
            <a:ext cx="47548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FE0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75120" y="342900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AC-014-bogie-72 -&gt; train (112 units)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537960" y="3995928"/>
            <a:ext cx="47548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FE0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0" y="399592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AC-018-bogie-88 -&gt; val (24 units)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37960" y="4562856"/>
            <a:ext cx="47548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FE0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75120" y="456285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AC-035-engine-11 -&gt; test (24 units)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537960" y="52578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E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RUL/anomaly metrics reflect genuine generalization to unseen parts, not memorized lifetime curves.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2E8B7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81" y="603961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804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Versioned, Auditable Model Registry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training run stamps a JSON "model card": hyperparameters, validation-tuned thresholds, and test metrics, timestamped in UTC.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artifacts (joblib) and the model card are written together — full lineage from raw telemetry to a deployed model file.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regulated environments: gives maintenance authorities an inspectable trail of what model made which call, and when it was trained.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0" y="1645920"/>
            <a:ext cx="5166360" cy="3703320"/>
          </a:xfrm>
          <a:prstGeom prst="roundRect">
            <a:avLst>
              <a:gd name="adj" fmla="val 1975"/>
            </a:avLst>
          </a:prstGeom>
          <a:solidFill>
            <a:srgbClr val="0B1E3D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675120" y="1810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model_card.json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75120" y="2212848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"rf":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"trained_at_utc": "2026-07-05T17:57Z",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"sklearn_estimator": "RandomForestRegressor",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"hyperparameters":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"n_estimators": 300, "max_depth": 12 },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"metrics": { "overall":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"MAE": 4.91, "RMSE": 9.42 } } },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"iforest":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"extra": { "thresholds":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"engine": 0.608, "bogie": 0.478 } } } }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8E6FD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81" y="603961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804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Idempotent, Retry-Safe Maintenance Integration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auto-generated work order carries a stable idempotency key derived from unit + cycle + finding.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MRO system connection drops mid-send, retries are safe by design — the same fault never creates a duplicate work order.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loop end-to-end: a predicted fault becomes a scheduled maintenance action with no human hand-off required.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172200" y="2377440"/>
            <a:ext cx="1143000" cy="2286000"/>
          </a:xfrm>
          <a:prstGeom prst="roundRect">
            <a:avLst>
              <a:gd name="adj" fmla="val 6400"/>
            </a:avLst>
          </a:prstGeom>
          <a:solidFill>
            <a:srgbClr val="E9EFF7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377940" y="2606040"/>
            <a:ext cx="731520" cy="731520"/>
          </a:xfrm>
          <a:prstGeom prst="ellipse">
            <a:avLst/>
          </a:prstGeom>
          <a:solidFill>
            <a:srgbClr val="2E8B7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038" y="2701138"/>
            <a:ext cx="541325" cy="5413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99632" y="3474720"/>
            <a:ext cx="1088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315200" y="3063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C4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7589520" y="2377440"/>
            <a:ext cx="1143000" cy="2286000"/>
          </a:xfrm>
          <a:prstGeom prst="roundRect">
            <a:avLst>
              <a:gd name="adj" fmla="val 6400"/>
            </a:avLst>
          </a:prstGeom>
          <a:solidFill>
            <a:srgbClr val="E9EFF7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95260" y="2606040"/>
            <a:ext cx="731520" cy="73152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0358" y="2701138"/>
            <a:ext cx="541325" cy="5413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616952" y="3474720"/>
            <a:ext cx="1088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work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+ key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8732520" y="3063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C4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9006840" y="2377440"/>
            <a:ext cx="1143000" cy="2286000"/>
          </a:xfrm>
          <a:prstGeom prst="roundRect">
            <a:avLst>
              <a:gd name="adj" fmla="val 6400"/>
            </a:avLst>
          </a:prstGeom>
          <a:solidFill>
            <a:srgbClr val="E9EFF7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212580" y="2606040"/>
            <a:ext cx="731520" cy="7315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7678" y="2701138"/>
            <a:ext cx="541325" cy="5413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34272" y="3474720"/>
            <a:ext cx="1088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MRO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0149840" y="3063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C4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1800" dirty="0"/>
          </a:p>
        </p:txBody>
      </p:sp>
      <p:sp>
        <p:nvSpPr>
          <p:cNvPr id="22" name="Shape 16"/>
          <p:cNvSpPr/>
          <p:nvPr/>
        </p:nvSpPr>
        <p:spPr>
          <a:xfrm>
            <a:off x="10424160" y="2377440"/>
            <a:ext cx="1143000" cy="2286000"/>
          </a:xfrm>
          <a:prstGeom prst="roundRect">
            <a:avLst>
              <a:gd name="adj" fmla="val 6400"/>
            </a:avLst>
          </a:prstGeom>
          <a:solidFill>
            <a:srgbClr val="E9EFF7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629900" y="2606040"/>
            <a:ext cx="731520" cy="731520"/>
          </a:xfrm>
          <a:prstGeom prst="ellipse">
            <a:avLst/>
          </a:prstGeom>
          <a:solidFill>
            <a:srgbClr val="8E6FD1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4998" y="2701138"/>
            <a:ext cx="541325" cy="54132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451592" y="3474720"/>
            <a:ext cx="1088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Retry-safe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6172200" y="50292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 work orders across retries, validated in the current 32-alert batch run.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Benchmarked on a 160-Part, 40-Aircraft Simulated Fleet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9EFF7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4.91</a:t>
            </a:r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cycles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RUL error (MAE)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91840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9EFF7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8288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66.7%</a:t>
            </a:r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2468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recall on held-out test units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9EFF7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8288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216</a:t>
            </a:r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cycles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2468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detection lead time before failure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78240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9EFF7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0" y="18288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16,288</a:t>
            </a:r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rows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61120" y="2468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readings across 160 tracked parts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6492240" cy="1828800"/>
        </p:xfrm>
        <a:graphic>
          <a:graphicData uri="http://schemas.openxmlformats.org/drawingml/2006/table">
            <a:tbl>
              <a:tblPr/>
              <a:tblGrid>
                <a:gridCol w="1623060"/>
                <a:gridCol w="1623060"/>
                <a:gridCol w="1623060"/>
                <a:gridCol w="16230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(cycles)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(cycles)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Gear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1,098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Bogie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315200" y="3794760"/>
            <a:ext cx="4343400" cy="1828800"/>
          </a:xfrm>
          <a:prstGeom prst="roundRect">
            <a:avLst>
              <a:gd name="adj" fmla="val 4000"/>
            </a:avLst>
          </a:prstGeom>
          <a:solidFill>
            <a:srgbClr val="FBF3E3"/>
          </a:solidFill>
          <a:ln/>
        </p:spPr>
      </p:sp>
      <p:sp>
        <p:nvSpPr>
          <p:cNvPr id="18" name="Shape 15"/>
          <p:cNvSpPr/>
          <p:nvPr/>
        </p:nvSpPr>
        <p:spPr>
          <a:xfrm>
            <a:off x="7543800" y="402336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1067" y="4100627"/>
            <a:ext cx="439826" cy="43982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32104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 &amp; next step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543800" y="45262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threshold favors recall (safety-first triage). Precision calibration against real failure labels is the planned next tuning pass.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Health Dashboard &amp; Auto-Generated Work Orders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4206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892040" y="16916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Top-Priority Maintenance Actions (auto-ranked by urgency)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2148840"/>
          <a:ext cx="6766560" cy="2651760"/>
        </p:xfrm>
        <a:graphic>
          <a:graphicData uri="http://schemas.openxmlformats.org/drawingml/2006/table">
            <a:tbl>
              <a:tblPr/>
              <a:tblGrid>
                <a:gridCol w="1353312"/>
                <a:gridCol w="1353312"/>
                <a:gridCol w="1353312"/>
                <a:gridCol w="1353312"/>
                <a:gridCol w="1353312"/>
              </a:tblGrid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Aircraft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 RUL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AC-014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Gear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6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AC-038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Gear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6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AC-018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Bogie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6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AC-035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Bogie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6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AC-028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Bogie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6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892040" y="49377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above became a retry-safe work order in outputs_v2/work_orders_v2.json — zero manual triage.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VERSION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Hybrid Deterministic-Core + Generative-Explainability Layer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777240" cy="777240"/>
          </a:xfrm>
          <a:prstGeom prst="ellipse">
            <a:avLst/>
          </a:prstGeom>
          <a:solidFill>
            <a:srgbClr val="2E8B7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21" y="197556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8745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Safety-critical core stays deterministic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91640" y="225856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3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+ Random Forest keep making every anomaly/RUL call — fast, reproducible, zero hallucination risk.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172968"/>
            <a:ext cx="777240" cy="77724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21" y="3274009"/>
            <a:ext cx="575158" cy="5751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3172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free local LLM adds the missing layer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91640" y="3557016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3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locally-run open model (via Ollama — no API cost, no internet dependency) turns numeric outputs into plain-language maintenance briefings and root-cause hypotheses for technicians.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471416"/>
            <a:ext cx="777240" cy="777240"/>
          </a:xfrm>
          <a:prstGeom prst="ellipse">
            <a:avLst/>
          </a:prstGeom>
          <a:solidFill>
            <a:srgbClr val="8E6FD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21" y="4572457"/>
            <a:ext cx="575158" cy="57515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44714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Graceful fallback by design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691640" y="4855464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3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LLM is unavailable, the system emits deterministic template summaries instead — the safety-critical pipeline never blocks on generative AI availability.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PROPERTY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Defensible IP Differentiators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0F2647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11096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Component-specific dual-ensemble architecture with independently validation-tuned thresholds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0F2647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752344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624328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Leakage-safe, unit-level train/validation/test protocol for time-series part lifetimes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0F2647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593592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465576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Versioned, auditable model registry linking every artifact to a timestamped model card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306824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0F2647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43484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306824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Idempotent, retry-safe closed-loop integration from prediction to maintenance work order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14807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0F2647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276088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5148072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Deterministic-core + generative-explainability fusion with built-in graceful-degradation fallback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Pitched as novel architecture combinations for this hackathon; a formal patent landscape/prior-art search is recommended before any filing.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4663440"/>
            <a:ext cx="2011680" cy="2011680"/>
          </a:xfrm>
          <a:prstGeom prst="ellipse">
            <a:avLst/>
          </a:prstGeom>
          <a:ln w="12700">
            <a:solidFill>
              <a:srgbClr val="4A6FA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42900" y="4137660"/>
            <a:ext cx="3063240" cy="3063240"/>
          </a:xfrm>
          <a:prstGeom prst="ellipse">
            <a:avLst/>
          </a:prstGeom>
          <a:ln w="12700">
            <a:solidFill>
              <a:srgbClr val="4A6FA5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68680" y="3611880"/>
            <a:ext cx="4114800" cy="4114800"/>
          </a:xfrm>
          <a:prstGeom prst="ellipse">
            <a:avLst/>
          </a:prstGeom>
          <a:ln w="12700">
            <a:solidFill>
              <a:srgbClr val="4A6FA5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94460" y="3086100"/>
            <a:ext cx="5166360" cy="5166360"/>
          </a:xfrm>
          <a:prstGeom prst="ellipse">
            <a:avLst/>
          </a:prstGeom>
          <a:ln w="12700">
            <a:solidFill>
              <a:srgbClr val="4A6FA5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FLEETGUARD AI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sensor noise into scheduled, explainable maintenance.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train.py -&gt; predict_service.py -&gt; auto-generated work orders in under 20 seconds.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846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722815" y="1097280"/>
            <a:ext cx="1051560" cy="1051560"/>
          </a:xfrm>
          <a:prstGeom prst="ellipse">
            <a:avLst/>
          </a:prstGeom>
          <a:solidFill>
            <a:srgbClr val="142A5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518" y="1233983"/>
            <a:ext cx="778154" cy="7781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FleetGuard AI - Aerospace Predictive Maintenance</dc:title>
  <dc:subject>PptxGenJS Presentation</dc:subject>
  <dc:creator>FleetGuard AI Team</dc:creator>
  <cp:lastModifiedBy>FleetGuard AI Team</cp:lastModifiedBy>
  <cp:revision>1</cp:revision>
  <dcterms:created xsi:type="dcterms:W3CDTF">2026-07-06T08:57:02Z</dcterms:created>
  <dcterms:modified xsi:type="dcterms:W3CDTF">2026-07-06T08:57:02Z</dcterms:modified>
</cp:coreProperties>
</file>